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8" r:id="rId4"/>
    <p:sldId id="259" r:id="rId5"/>
    <p:sldId id="262" r:id="rId6"/>
    <p:sldId id="260" r:id="rId7"/>
    <p:sldId id="264" r:id="rId8"/>
    <p:sldId id="269" r:id="rId9"/>
    <p:sldId id="270" r:id="rId10"/>
    <p:sldId id="271" r:id="rId11"/>
    <p:sldId id="273" r:id="rId12"/>
    <p:sldId id="275" r:id="rId13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6" Type="http://schemas.openxmlformats.org/officeDocument/2006/relationships/tableStyles" Target="tableStyles.xml"/><Relationship Id="rId15" Type="http://schemas.openxmlformats.org/officeDocument/2006/relationships/viewProps" Target="viewProps.xml"/><Relationship Id="rId14" Type="http://schemas.openxmlformats.org/officeDocument/2006/relationships/presProps" Target="presProps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1005840"/>
            <a:ext cx="2926080" cy="411480"/>
          </a:xfrm>
          <a:prstGeom prst="roundRect">
            <a:avLst/>
          </a:prstGeom>
          <a:solidFill>
            <a:srgbClr val="1E293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93C5FD"/>
                </a:solidFill>
              </a:defRPr>
            </a:pPr>
            <a:r>
              <a:t>MCA FINAL PROJECT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32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InternHub</a:t>
            </a:r>
          </a:p>
          <a:p>
            <a:pPr>
              <a:defRPr sz="2800" b="1">
                <a:solidFill>
                  <a:srgbClr val="93C5FD"/>
                </a:solidFill>
              </a:defRPr>
            </a:pPr>
            <a:r>
              <a:t>College Internship Management System</a:t>
            </a:r>
          </a:p>
          <a:p>
            <a:pPr>
              <a:spcBef>
                <a:spcPts val="1000"/>
              </a:spcBef>
              <a:defRPr sz="1400">
                <a:solidFill>
                  <a:srgbClr val="CBD5E1"/>
                </a:solidFill>
              </a:defRPr>
            </a:pPr>
            <a:r>
              <a:t>A Centralized Web-Based Portal Streamlining Campus Internship Opportunities &amp; Application Tracking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931920"/>
            <a:ext cx="4937760" cy="210312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2563EB"/>
                </a:solidFill>
              </a:defRPr>
            </a:pPr>
            <a:r>
              <a:t>SUBMITTED BY</a:t>
            </a:r>
          </a:p>
          <a:p>
            <a:pPr>
              <a:spcBef>
                <a:spcPts val="400"/>
              </a:spcBef>
              <a:defRPr sz="1800" b="1">
                <a:solidFill>
                  <a:srgbClr val="FFFFFF"/>
                </a:solidFill>
              </a:defRPr>
            </a:pPr>
            <a:r>
              <a:t>HISANA HAMZA</a:t>
            </a:r>
          </a:p>
          <a:p>
            <a:pPr>
              <a:defRPr sz="1200">
                <a:solidFill>
                  <a:srgbClr val="CBD5E1"/>
                </a:solidFill>
              </a:defRPr>
            </a:pPr>
            <a:r>
              <a:t>Register No: MEA25MCA-2010</a:t>
            </a:r>
          </a:p>
          <a:p>
            <a:pPr>
              <a:defRPr sz="1200">
                <a:solidFill>
                  <a:srgbClr val="CBD5E1"/>
                </a:solidFill>
              </a:defRPr>
            </a:pPr>
            <a:r>
              <a:t>Master of Computer Applications (MCA)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3931920"/>
            <a:ext cx="4937760" cy="210312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10B981"/>
                </a:solidFill>
              </a:defRPr>
            </a:pPr>
            <a:r>
              <a:t>GUIDANCE &amp; INSTITUTION</a:t>
            </a:r>
          </a:p>
          <a:p>
            <a:pPr>
              <a:spcBef>
                <a:spcPts val="400"/>
              </a:spcBef>
              <a:defRPr sz="1400" b="1">
                <a:solidFill>
                  <a:srgbClr val="FFFFFF"/>
                </a:solidFill>
              </a:defRPr>
            </a:pPr>
            <a:r>
              <a:t>Project Guide: Mr. Adil Narakkoden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Assistant Professor, Dept. of Computer Applications</a:t>
            </a:r>
          </a:p>
          <a:p>
            <a:pPr>
              <a:spcBef>
                <a:spcPts val="600"/>
              </a:spcBef>
              <a:defRPr sz="1200" b="1">
                <a:solidFill>
                  <a:srgbClr val="FFFFFF"/>
                </a:solidFill>
              </a:defRPr>
            </a:pPr>
            <a:r>
              <a:t>MEA Engineering College, Perinthalmanna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APJ Abdul Kalam Technological University (KTU)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Project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</a:defRPr>
            </a:pPr>
            <a:r>
              <a:t>Context, purpose, and significance of InternHub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916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521208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74320" rIns="274320" rtlCol="0" anchor="ctr"/>
          <a:lstStyle/>
          <a:p>
            <a:pPr algn="ctr">
              <a:defRPr sz="1600" b="1">
                <a:solidFill>
                  <a:srgbClr val="1F3C88"/>
                </a:solidFill>
              </a:defRPr>
            </a:pPr>
            <a:r>
              <a:t>📌 Background &amp; Context</a:t>
            </a:r>
          </a:p>
          <a:p>
            <a:pPr>
              <a:spcBef>
                <a:spcPts val="1000"/>
              </a:spcBef>
              <a:defRPr sz="1100">
                <a:solidFill>
                  <a:srgbClr val="1E293B"/>
                </a:solidFill>
              </a:defRPr>
            </a:pPr>
            <a:r>
              <a:t>• Industry-Academia Bridge: Internships offer students crucial exposure to real-world software workflows, hands-on development, and professional workplace standards.</a:t>
            </a:r>
          </a:p>
          <a:p>
            <a:pPr>
              <a:spcBef>
                <a:spcPts val="1000"/>
              </a:spcBef>
              <a:defRPr sz="1100">
                <a:solidFill>
                  <a:srgbClr val="1E293B"/>
                </a:solidFill>
              </a:defRPr>
            </a:pPr>
            <a:r>
              <a:t>• Fragmented Information: In traditional college settings, opportunities are circulated haphazardly across notice boards, disparate messaging channels, and forwarded emails.</a:t>
            </a:r>
          </a:p>
          <a:p>
            <a:pPr>
              <a:spcBef>
                <a:spcPts val="1000"/>
              </a:spcBef>
              <a:defRPr sz="1100">
                <a:solidFill>
                  <a:srgbClr val="1E293B"/>
                </a:solidFill>
              </a:defRPr>
            </a:pPr>
            <a:r>
              <a:t>• Lack of Direct Tracking: Students frequently lose track of their application status and deadlines, while placement coordinators struggle with disorganized records.</a:t>
            </a:r>
          </a:p>
          <a:p>
            <a:pPr>
              <a:spcBef>
                <a:spcPts val="1000"/>
              </a:spcBef>
              <a:defRPr sz="1100">
                <a:solidFill>
                  <a:srgbClr val="1E293B"/>
                </a:solidFill>
              </a:defRPr>
            </a:pPr>
            <a:r>
              <a:t>• Administrative Overload: Manually gathering resumes, filtering applicants, and publishing updates via spreadsheets causes significant communication bottlenecks.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920240"/>
            <a:ext cx="521208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74320" rIns="274320" rtlCol="0" anchor="ctr"/>
          <a:lstStyle/>
          <a:p>
            <a:pPr algn="ctr">
              <a:defRPr sz="1600" b="1">
                <a:solidFill>
                  <a:srgbClr val="2563EB"/>
                </a:solidFill>
              </a:defRPr>
            </a:pPr>
            <a:r>
              <a:t>🚀 InternHub Solution</a:t>
            </a:r>
          </a:p>
          <a:p>
            <a:pPr>
              <a:spcBef>
                <a:spcPts val="1000"/>
              </a:spcBef>
              <a:defRPr sz="1100">
                <a:solidFill>
                  <a:srgbClr val="1E293B"/>
                </a:solidFill>
              </a:defRPr>
            </a:pPr>
            <a:r>
              <a:t>• Centralized Campus Portal: A unified, responsive web portal bringing verified internship listings directly to students in an accessible, structured environment.</a:t>
            </a:r>
          </a:p>
          <a:p>
            <a:pPr>
              <a:spcBef>
                <a:spcPts val="1000"/>
              </a:spcBef>
              <a:defRPr sz="1100">
                <a:solidFill>
                  <a:srgbClr val="1E293B"/>
                </a:solidFill>
              </a:defRPr>
            </a:pPr>
            <a:r>
              <a:t>• Seamless Student Journey: Enables students to register, manage profiles, search listings using multi-field keywords, and apply with a single click.</a:t>
            </a:r>
          </a:p>
          <a:p>
            <a:pPr>
              <a:spcBef>
                <a:spcPts val="1000"/>
              </a:spcBef>
              <a:defRPr sz="1100">
                <a:solidFill>
                  <a:srgbClr val="1E293B"/>
                </a:solidFill>
              </a:defRPr>
            </a:pPr>
            <a:r>
              <a:t>• Automated Feedback Loop: Eliminates uncertainty by providing live application tracking (Pending, Under Review, Shortlisted, Selected, Rejected) and in-app alerts.</a:t>
            </a:r>
          </a:p>
          <a:p>
            <a:pPr>
              <a:spcBef>
                <a:spcPts val="1000"/>
              </a:spcBef>
              <a:defRPr sz="1100">
                <a:solidFill>
                  <a:srgbClr val="1E293B"/>
                </a:solidFill>
              </a:defRPr>
            </a:pPr>
            <a:r>
              <a:t>• Robust Administrative Control: Provides staff and coordinators full control via Django's secure admin interface to moderate listings and track candidates efficiently.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PROJECT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Project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</a:defRPr>
            </a:pPr>
            <a:r>
              <a:t>Core strategic goals addressed by the InternHub platform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916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474720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rtlCol="0" anchor="ctr"/>
          <a:lstStyle/>
          <a:p>
            <a:pPr algn="ctr">
              <a:defRPr sz="1300" b="1">
                <a:solidFill>
                  <a:srgbClr val="1F3C88"/>
                </a:solidFill>
              </a:defRPr>
            </a:pPr>
            <a:r>
              <a:t>🎯 Centralize Opportunity Discovery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Provide a single authoritative platform where verified company internships are listed with comprehensive details (stipend, duration, location, required skills, and deadline).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70832" y="1920240"/>
            <a:ext cx="3474720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rtlCol="0" anchor="ctr"/>
          <a:lstStyle/>
          <a:p>
            <a:pPr algn="ctr">
              <a:defRPr sz="1300" b="1">
                <a:solidFill>
                  <a:srgbClr val="1F3C88"/>
                </a:solidFill>
              </a:defRPr>
            </a:pPr>
            <a:r>
              <a:t>⚡ Streamline Online Applications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Eliminate manual paperwork and email submissions by providing a quick, authenticated one-click application process directly linked to student academic profiles.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10144" y="1920240"/>
            <a:ext cx="3474720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rtlCol="0" anchor="ctr"/>
          <a:lstStyle/>
          <a:p>
            <a:pPr algn="ctr">
              <a:defRPr sz="1300" b="1">
                <a:solidFill>
                  <a:srgbClr val="1F3C88"/>
                </a:solidFill>
              </a:defRPr>
            </a:pPr>
            <a:r>
              <a:t>📊 Real-Time Application Tracking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Offer students complete transparency into their application journey through a dynamic dashboard displaying real-time statuses (Pending, Shortlisted, Selected, Rejected).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160520"/>
            <a:ext cx="3474720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rtlCol="0" anchor="ctr"/>
          <a:lstStyle/>
          <a:p>
            <a:pPr algn="ctr">
              <a:defRPr sz="1300" b="1">
                <a:solidFill>
                  <a:srgbClr val="1F3C88"/>
                </a:solidFill>
              </a:defRPr>
            </a:pPr>
            <a:r>
              <a:t>🛡️ Ensure Strict Data Integrity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Enforce database-level unique constraints to prevent duplicate applications for the same opening, ensuring clean, fair, and reliable records.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4160520"/>
            <a:ext cx="3474720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rtlCol="0" anchor="ctr"/>
          <a:lstStyle/>
          <a:p>
            <a:pPr algn="ctr">
              <a:defRPr sz="1300" b="1">
                <a:solidFill>
                  <a:srgbClr val="1F3C88"/>
                </a:solidFill>
              </a:defRPr>
            </a:pPr>
            <a:r>
              <a:t>🔔 Instant Notification Mechanism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Keep students informed immediately about their submission confirmations and subsequent status transitions through an integrated in-app notification center.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10144" y="4160520"/>
            <a:ext cx="3474720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rtlCol="0" anchor="ctr"/>
          <a:lstStyle/>
          <a:p>
            <a:pPr algn="ctr">
              <a:defRPr sz="1300" b="1">
                <a:solidFill>
                  <a:srgbClr val="1F3C88"/>
                </a:solidFill>
              </a:defRPr>
            </a:pPr>
            <a:r>
              <a:t>⚙️ Empower Placement Coordinators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Provide administrative personnel with robust CRUD capabilities for managing job listings, monitoring registered students, and reviewing applications seamlessly.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FUNCTIONALITY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Core System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</a:defRPr>
            </a:pPr>
            <a:r>
              <a:t>Comprehensive capabilities designed for students and administrators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916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474720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rtlCol="0" anchor="ctr"/>
          <a:lstStyle/>
          <a:p>
            <a:pPr algn="ctr">
              <a:defRPr sz="1300" b="1">
                <a:solidFill>
                  <a:srgbClr val="1F3C88"/>
                </a:solidFill>
              </a:defRPr>
            </a:pPr>
            <a:r>
              <a:t>🔐 Secure Student Authentication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Secure sign-up and login mechanism powered by Django Auth, featuring hashed passwords and protected student sessions.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70832" y="1920240"/>
            <a:ext cx="3474720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rtlCol="0" anchor="ctr"/>
          <a:lstStyle/>
          <a:p>
            <a:pPr algn="ctr">
              <a:defRPr sz="1300" b="1">
                <a:solidFill>
                  <a:srgbClr val="1F3C88"/>
                </a:solidFill>
              </a:defRPr>
            </a:pPr>
            <a:r>
              <a:t>🔎 Smart Keyword Search Filter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Dynamic multi-attribute query engine filtering postings by job title, company name, location, and specific required skills.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10144" y="1920240"/>
            <a:ext cx="3474720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rtlCol="0" anchor="ctr"/>
          <a:lstStyle/>
          <a:p>
            <a:pPr algn="ctr">
              <a:defRPr sz="1300" b="1">
                <a:solidFill>
                  <a:srgbClr val="1F3C88"/>
                </a:solidFill>
              </a:defRPr>
            </a:pPr>
            <a:r>
              <a:t>⚡ 1-Click Application Engine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Instant application submission associating verified student profile with targeted opening, complete with duplicate submission checks.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160520"/>
            <a:ext cx="3474720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rtlCol="0" anchor="ctr"/>
          <a:lstStyle/>
          <a:p>
            <a:pPr algn="ctr">
              <a:defRPr sz="1300" b="1">
                <a:solidFill>
                  <a:srgbClr val="1F3C88"/>
                </a:solidFill>
              </a:defRPr>
            </a:pPr>
            <a:r>
              <a:t>📊 Real-Time Analytics Dashboard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Intuitive dashboard providing interactive count cards for Total, Pending, Selected, and Rejected applications.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4160520"/>
            <a:ext cx="3474720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rtlCol="0" anchor="ctr"/>
          <a:lstStyle/>
          <a:p>
            <a:pPr algn="ctr">
              <a:defRPr sz="1300" b="1">
                <a:solidFill>
                  <a:srgbClr val="1F3C88"/>
                </a:solidFill>
              </a:defRPr>
            </a:pPr>
            <a:r>
              <a:t>🔔 In-App Notification Center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Automated alert generation for application submissions and coordinator status changes, with read/unread tracking.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10144" y="4160520"/>
            <a:ext cx="3474720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rtlCol="0" anchor="ctr"/>
          <a:lstStyle/>
          <a:p>
            <a:pPr algn="ctr">
              <a:defRPr sz="1300" b="1">
                <a:solidFill>
                  <a:srgbClr val="1F3C88"/>
                </a:solidFill>
              </a:defRPr>
            </a:pPr>
            <a:r>
              <a:t>🛠️ Comprehensive Admin Panel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Powerful administrative back-office for creating/editing postings, reviewing student data, and updating recruitment statuses.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SYSTEM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Existing System vs. Proposed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</a:defRPr>
            </a:pPr>
            <a:r>
              <a:t>Comparative analysis highlighting key operational improvements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916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5212080" cy="4389120"/>
          </a:xfrm>
          <a:prstGeom prst="roundRect">
            <a:avLst/>
          </a:prstGeom>
          <a:solidFill>
            <a:srgbClr val="FFF1F2"/>
          </a:solidFill>
          <a:ln w="15240">
            <a:solidFill>
              <a:srgbClr val="FECD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74320" rIns="274320" rtlCol="0" anchor="ctr"/>
          <a:lstStyle/>
          <a:p>
            <a:pPr algn="ctr">
              <a:defRPr sz="1500" b="1">
                <a:solidFill>
                  <a:srgbClr val="E11D48"/>
                </a:solidFill>
              </a:defRPr>
            </a:pPr>
            <a:r>
              <a:t>❌ Existing System (Manual / Fragmented)</a:t>
            </a:r>
          </a:p>
          <a:p>
            <a:pPr>
              <a:spcBef>
                <a:spcPts val="800"/>
              </a:spcBef>
              <a:defRPr sz="1050">
                <a:solidFill>
                  <a:srgbClr val="1E293B"/>
                </a:solidFill>
              </a:defRPr>
            </a:pPr>
            <a:r>
              <a:t>• Scattered Information Channels: Opportunities announced randomly across WhatsApp, physical boards, and forwarded departmental emails.</a:t>
            </a:r>
          </a:p>
          <a:p>
            <a:pPr>
              <a:spcBef>
                <a:spcPts val="800"/>
              </a:spcBef>
              <a:defRPr sz="1050">
                <a:solidFill>
                  <a:srgbClr val="1E293B"/>
                </a:solidFill>
              </a:defRPr>
            </a:pPr>
            <a:r>
              <a:t>• Paper-Based / Email Applications: Resumes submitted physically or to cluttered inboxes, leading to lost records and formatting inconsistencies.</a:t>
            </a:r>
          </a:p>
          <a:p>
            <a:pPr>
              <a:spcBef>
                <a:spcPts val="800"/>
              </a:spcBef>
              <a:defRPr sz="1050">
                <a:solidFill>
                  <a:srgbClr val="1E293B"/>
                </a:solidFill>
              </a:defRPr>
            </a:pPr>
            <a:r>
              <a:t>• No Real-Time Visibility: Students have no mechanism to track their application status; candidates remain uncertain about outcomes.</a:t>
            </a:r>
          </a:p>
          <a:p>
            <a:pPr>
              <a:spcBef>
                <a:spcPts val="800"/>
              </a:spcBef>
              <a:defRPr sz="1050">
                <a:solidFill>
                  <a:srgbClr val="1E293B"/>
                </a:solidFill>
              </a:defRPr>
            </a:pPr>
            <a:r>
              <a:t>• High Duplicate Risk: Students accidentally apply multiple times, creating redundant records and cluttering recruiter review queues.</a:t>
            </a:r>
          </a:p>
          <a:p>
            <a:pPr>
              <a:spcBef>
                <a:spcPts val="800"/>
              </a:spcBef>
              <a:defRPr sz="1050">
                <a:solidFill>
                  <a:srgbClr val="1E293B"/>
                </a:solidFill>
              </a:defRPr>
            </a:pPr>
            <a:r>
              <a:t>• Heavy Administrative Burden: Staff spend excessive hours manually verifying applicant data, logging entries in spreadsheets, and notifying candidates.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920240"/>
            <a:ext cx="5212080" cy="4389120"/>
          </a:xfrm>
          <a:prstGeom prst="roundRect">
            <a:avLst/>
          </a:prstGeom>
          <a:solidFill>
            <a:srgbClr val="F0FDF4"/>
          </a:solidFill>
          <a:ln w="1524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74320" rIns="274320" rtlCol="0" anchor="ctr"/>
          <a:lstStyle/>
          <a:p>
            <a:pPr algn="ctr">
              <a:defRPr sz="1500" b="1">
                <a:solidFill>
                  <a:srgbClr val="15803D"/>
                </a:solidFill>
              </a:defRPr>
            </a:pPr>
            <a:r>
              <a:t>✅ Proposed System (InternHub Portal)</a:t>
            </a:r>
          </a:p>
          <a:p>
            <a:pPr>
              <a:spcBef>
                <a:spcPts val="800"/>
              </a:spcBef>
              <a:defRPr sz="1050">
                <a:solidFill>
                  <a:srgbClr val="1E293B"/>
                </a:solidFill>
              </a:defRPr>
            </a:pPr>
            <a:r>
              <a:t>• Single Centralized Hub: All campus internship drives organized in one standardized digital catalog with full parameters and deadlines.</a:t>
            </a:r>
          </a:p>
          <a:p>
            <a:pPr>
              <a:spcBef>
                <a:spcPts val="800"/>
              </a:spcBef>
              <a:defRPr sz="1050">
                <a:solidFill>
                  <a:srgbClr val="1E293B"/>
                </a:solidFill>
              </a:defRPr>
            </a:pPr>
            <a:r>
              <a:t>• 1-Click Authenticated Application: Direct digital submission connecting candidate profile to the internship with automatic timestamping.</a:t>
            </a:r>
          </a:p>
          <a:p>
            <a:pPr>
              <a:spcBef>
                <a:spcPts val="800"/>
              </a:spcBef>
              <a:defRPr sz="1050">
                <a:solidFill>
                  <a:srgbClr val="1E293B"/>
                </a:solidFill>
              </a:defRPr>
            </a:pPr>
            <a:r>
              <a:t>• Dynamic Status Tracking: Live student dashboard showcasing distinct stages: Pending, Under Review, Shortlisted, Selected, Rejected.</a:t>
            </a:r>
          </a:p>
          <a:p>
            <a:pPr>
              <a:spcBef>
                <a:spcPts val="800"/>
              </a:spcBef>
              <a:defRPr sz="1050">
                <a:solidFill>
                  <a:srgbClr val="1E293B"/>
                </a:solidFill>
              </a:defRPr>
            </a:pPr>
            <a:r>
              <a:t>• Zero Duplication Guarantee: Database-enforced unique constraints strictly prevent repeated applications for the same opening.</a:t>
            </a:r>
          </a:p>
          <a:p>
            <a:pPr>
              <a:spcBef>
                <a:spcPts val="800"/>
              </a:spcBef>
              <a:defRPr sz="1050">
                <a:solidFill>
                  <a:srgbClr val="1E293B"/>
                </a:solidFill>
              </a:defRPr>
            </a:pPr>
            <a:r>
              <a:t>• Streamlined Management &amp; Alerts: Dedicated admin console for instant status moderation paired with automated in-app notifications.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MODULES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System Module Breakdown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</a:defRPr>
            </a:pPr>
            <a:r>
              <a:t>Functional segregation of the InternHub web application into core subsystems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916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874519"/>
            <a:ext cx="10728655" cy="777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09728" rIns="228600" rtlCol="0" anchor="ctr"/>
          <a:lstStyle/>
          <a:p>
            <a:pPr algn="ctr">
              <a:defRPr sz="1300" b="1">
                <a:solidFill>
                  <a:srgbClr val="1F3C88"/>
                </a:solidFill>
              </a:defRPr>
            </a:pPr>
            <a:r>
              <a:t>Module 1: User Management &amp; Authentication</a:t>
            </a:r>
          </a:p>
          <a:p>
            <a:pPr>
              <a:spcBef>
                <a:spcPts val="200"/>
              </a:spcBef>
              <a:defRPr sz="1050">
                <a:solidFill>
                  <a:srgbClr val="1E293B"/>
                </a:solidFill>
              </a:defRPr>
            </a:pPr>
            <a:r>
              <a:t>Handles student account creation, profile management, credentials verification, secure session control, and personal student dashboard analytics.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770632"/>
            <a:ext cx="10728655" cy="777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09728" rIns="228600" rtlCol="0" anchor="ctr"/>
          <a:lstStyle/>
          <a:p>
            <a:pPr algn="ctr">
              <a:defRPr sz="1300" b="1">
                <a:solidFill>
                  <a:srgbClr val="2563EB"/>
                </a:solidFill>
              </a:defRPr>
            </a:pPr>
            <a:r>
              <a:t>Module 2: Internship Discovery &amp; Search</a:t>
            </a:r>
          </a:p>
          <a:p>
            <a:pPr>
              <a:spcBef>
                <a:spcPts val="200"/>
              </a:spcBef>
              <a:defRPr sz="1050">
                <a:solidFill>
                  <a:srgbClr val="1E293B"/>
                </a:solidFill>
              </a:defRPr>
            </a:pPr>
            <a:r>
              <a:t>Provides dynamic cataloging of all available internship postings with multi-field search filters (title, company, location, skills) and full detail pages.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666744"/>
            <a:ext cx="10728655" cy="777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09728" rIns="228600" rtlCol="0" anchor="ctr"/>
          <a:lstStyle/>
          <a:p>
            <a:pPr algn="ctr">
              <a:defRPr sz="1300" b="1">
                <a:solidFill>
                  <a:srgbClr val="0D9488"/>
                </a:solidFill>
              </a:defRPr>
            </a:pPr>
            <a:r>
              <a:t>Module 3: Application Engine &amp; Duplicate Guard</a:t>
            </a:r>
          </a:p>
          <a:p>
            <a:pPr>
              <a:spcBef>
                <a:spcPts val="200"/>
              </a:spcBef>
              <a:defRPr sz="1050">
                <a:solidFill>
                  <a:srgbClr val="1E293B"/>
                </a:solidFill>
              </a:defRPr>
            </a:pPr>
            <a:r>
              <a:t>Manages the one-click student application submission process, validates duplicate restrictions, and records application timestamps.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562856"/>
            <a:ext cx="10728655" cy="777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09728" rIns="228600" rtlCol="0" anchor="ctr"/>
          <a:lstStyle/>
          <a:p>
            <a:pPr algn="ctr">
              <a:defRPr sz="1300" b="1">
                <a:solidFill>
                  <a:srgbClr val="10B981"/>
                </a:solidFill>
              </a:defRPr>
            </a:pPr>
            <a:r>
              <a:t>Module 4: Real-Time Tracking &amp; Notifications</a:t>
            </a:r>
          </a:p>
          <a:p>
            <a:pPr>
              <a:spcBef>
                <a:spcPts val="200"/>
              </a:spcBef>
              <a:defRPr sz="1050">
                <a:solidFill>
                  <a:srgbClr val="1E293B"/>
                </a:solidFill>
              </a:defRPr>
            </a:pPr>
            <a:r>
              <a:t>Tracks student applications through recruitment stages and generates automatic in-app alerts whenever statuses are updated by coordinators.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458968"/>
            <a:ext cx="10728655" cy="777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09728" rIns="228600" rtlCol="0" anchor="ctr"/>
          <a:lstStyle/>
          <a:p>
            <a:pPr algn="ctr">
              <a:defRPr sz="1300" b="1">
                <a:solidFill>
                  <a:srgbClr val="D97706"/>
                </a:solidFill>
              </a:defRPr>
            </a:pPr>
            <a:r>
              <a:t>Module 5: Admin Management &amp; Moderation</a:t>
            </a:r>
          </a:p>
          <a:p>
            <a:pPr>
              <a:spcBef>
                <a:spcPts val="200"/>
              </a:spcBef>
              <a:defRPr sz="1050">
                <a:solidFill>
                  <a:srgbClr val="1E293B"/>
                </a:solidFill>
              </a:defRPr>
            </a:pPr>
            <a:r>
              <a:t>Provides privileged faculty and placement coordinators with tools to post internships, review applicant pools, and update hiring statuses.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DATABASE SCHEMA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Database Tables: Student &amp; Internship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</a:defRPr>
            </a:pPr>
            <a:r>
              <a:t>Schema specifications, field types, and integrity constraints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916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521208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rtlCol="0" anchor="ctr"/>
          <a:lstStyle/>
          <a:p>
            <a:pPr algn="ctr">
              <a:defRPr sz="1300" b="1">
                <a:solidFill>
                  <a:srgbClr val="1F3C88"/>
                </a:solidFill>
              </a:defRPr>
            </a:pPr>
            <a:r>
              <a:t>TABLE 1: Student (user_management_student)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2377440"/>
          <a:ext cx="5029200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645920"/>
                <a:gridCol w="2011680"/>
              </a:tblGrid>
              <a:tr h="535577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Field Name</a:t>
                      </a:r>
                    </a:p>
                  </a:txBody>
                  <a:tcPr>
                    <a:solidFill>
                      <a:srgbClr val="1F3C8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Data Type</a:t>
                      </a:r>
                    </a:p>
                  </a:txBody>
                  <a:tcPr>
                    <a:solidFill>
                      <a:srgbClr val="1F3C8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Constraints</a:t>
                      </a:r>
                    </a:p>
                  </a:txBody>
                  <a:tcPr>
                    <a:solidFill>
                      <a:srgbClr val="1F3C88"/>
                    </a:solidFill>
                  </a:tcPr>
                </a:tc>
              </a:tr>
              <a:tr h="535577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F172A"/>
                          </a:solidFill>
                        </a:defRPr>
                      </a:pPr>
                      <a:r>
                        <a:t>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BIGINT / INT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PRIMARY KEY, AUTO_INC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5577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F172A"/>
                          </a:solidFill>
                        </a:defRPr>
                      </a:pPr>
                      <a:r>
                        <a:t>user_id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INT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FOREIGN KEY -&gt; auth_user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35577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F172A"/>
                          </a:solidFill>
                        </a:defRPr>
                      </a:pPr>
                      <a:r>
                        <a:t>name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VARCHAR(100)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NOT NULL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5577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F172A"/>
                          </a:solidFill>
                        </a:defRPr>
                      </a:pPr>
                      <a:r>
                        <a:t>email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VARCHAR(254)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NOT NULL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35577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F172A"/>
                          </a:solidFill>
                        </a:defRPr>
                      </a:pPr>
                      <a:r>
                        <a:t>phone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VARCHAR(15)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NOT NULL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5577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F172A"/>
                          </a:solidFill>
                        </a:defRPr>
                      </a:pPr>
                      <a:r>
                        <a:t>course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VARCHAR(100)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NOT NULL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217920" y="1920240"/>
            <a:ext cx="521208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rtlCol="0" anchor="ctr"/>
          <a:lstStyle/>
          <a:p>
            <a:pPr algn="ctr">
              <a:defRPr sz="1300" b="1">
                <a:solidFill>
                  <a:srgbClr val="2563EB"/>
                </a:solidFill>
              </a:defRPr>
            </a:pPr>
            <a:r>
              <a:t>TABLE 2: Internship (internships_internship)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309360" y="2377440"/>
          <a:ext cx="5029200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463040"/>
                <a:gridCol w="1920240"/>
              </a:tblGrid>
              <a:tr h="374903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Field Name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Data Type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Constraints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</a:tr>
              <a:tr h="374903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F172A"/>
                          </a:solidFill>
                        </a:defRPr>
                      </a:pPr>
                      <a:r>
                        <a:t>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BIGINT / INT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PRIMARY KEY, AUTO_INC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F172A"/>
                          </a:solidFill>
                        </a:defRPr>
                      </a:pPr>
                      <a:r>
                        <a:t>title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VARCHAR(200)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NOT NULL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74903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F172A"/>
                          </a:solidFill>
                        </a:defRPr>
                      </a:pPr>
                      <a:r>
                        <a:t>company_name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VARCHAR(200)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NOT NULL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F172A"/>
                          </a:solidFill>
                        </a:defRPr>
                      </a:pPr>
                      <a:r>
                        <a:t>description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TEXT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NOT NULL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74903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F172A"/>
                          </a:solidFill>
                        </a:defRPr>
                      </a:pPr>
                      <a:r>
                        <a:t>location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VARCHAR(100)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NOT NULL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F172A"/>
                          </a:solidFill>
                        </a:defRPr>
                      </a:pPr>
                      <a:r>
                        <a:t>duration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VARCHAR(100)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NOT NULL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74903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F172A"/>
                          </a:solidFill>
                        </a:defRPr>
                      </a:pPr>
                      <a:r>
                        <a:t>stipend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VARCHAR(100)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NOT NULL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F172A"/>
                          </a:solidFill>
                        </a:defRPr>
                      </a:pPr>
                      <a:r>
                        <a:t>skills_required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VARCHAR(300)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NOT NULL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74912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F172A"/>
                          </a:solidFill>
                        </a:defRPr>
                      </a:pPr>
                      <a:r>
                        <a:t>application_deadline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DATE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NOT NULL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DATABASE SCHEMA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Database Tables: Application &amp; Notification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</a:defRPr>
            </a:pPr>
            <a:r>
              <a:t>Schema specifications, foreign key linkages, and status constraints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916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521208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rtlCol="0" anchor="ctr"/>
          <a:lstStyle/>
          <a:p>
            <a:pPr algn="ctr">
              <a:defRPr sz="1300" b="1">
                <a:solidFill>
                  <a:srgbClr val="0D9488"/>
                </a:solidFill>
              </a:defRPr>
            </a:pPr>
            <a:r>
              <a:t>TABLE 3: Application (internships_application)</a:t>
            </a:r>
          </a:p>
          <a:p>
            <a:pPr>
              <a:spcBef>
                <a:spcPts val="800"/>
              </a:spcBef>
              <a:defRPr sz="950" b="1">
                <a:solidFill>
                  <a:srgbClr val="E11D48"/>
                </a:solidFill>
              </a:defRPr>
            </a:pPr>
            <a:r>
              <a:t>* Enforces UniqueConstraint: ['student', 'internship'] to prohibit duplicate entries.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2377440"/>
          <a:ext cx="5029200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463040"/>
                <a:gridCol w="2194560"/>
              </a:tblGrid>
              <a:tr h="624839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Field Name</a:t>
                      </a:r>
                    </a:p>
                  </a:txBody>
                  <a:tcPr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Data Type</a:t>
                      </a:r>
                    </a:p>
                  </a:txBody>
                  <a:tcPr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Constraints</a:t>
                      </a:r>
                    </a:p>
                  </a:txBody>
                  <a:tcPr>
                    <a:solidFill>
                      <a:srgbClr val="0D9488"/>
                    </a:solidFill>
                  </a:tcPr>
                </a:tc>
              </a:tr>
              <a:tr h="624839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F172A"/>
                          </a:solidFill>
                        </a:defRPr>
                      </a:pPr>
                      <a:r>
                        <a:t>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BIGINT / INT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PRIMARY KEY, AUTO_INC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4839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F172A"/>
                          </a:solidFill>
                        </a:defRPr>
                      </a:pPr>
                      <a:r>
                        <a:t>student_id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INT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FOREIGN KEY -&gt; Student (CASCADE)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24839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F172A"/>
                          </a:solidFill>
                        </a:defRPr>
                      </a:pPr>
                      <a:r>
                        <a:t>internship_id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INT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FOREIGN KEY -&gt; Internship (CASCADE)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4839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F172A"/>
                          </a:solidFill>
                        </a:defRPr>
                      </a:pPr>
                      <a:r>
                        <a:t>applied_at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DATETIME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NOT NULL, auto_now_add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24844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F172A"/>
                          </a:solidFill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VARCHAR(20)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DEFAULT: 'Pending' [Choices: Pending, Under Review, Shortlisted, Selected, Rejected]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217920" y="1920240"/>
            <a:ext cx="521208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rtlCol="0" anchor="ctr"/>
          <a:lstStyle/>
          <a:p>
            <a:pPr algn="ctr">
              <a:defRPr sz="1300" b="1">
                <a:solidFill>
                  <a:srgbClr val="10B981"/>
                </a:solidFill>
              </a:defRPr>
            </a:pPr>
            <a:r>
              <a:t>TABLE 4: Notification (internships_notification)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309360" y="2377440"/>
          <a:ext cx="5029200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463040"/>
                <a:gridCol w="2194560"/>
              </a:tblGrid>
              <a:tr h="624839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Field Name</a:t>
                      </a:r>
                    </a:p>
                  </a:txBody>
                  <a:tcPr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Data Type</a:t>
                      </a:r>
                    </a:p>
                  </a:txBody>
                  <a:tcPr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Constraints</a:t>
                      </a:r>
                    </a:p>
                  </a:txBody>
                  <a:tcPr>
                    <a:solidFill>
                      <a:srgbClr val="10B981"/>
                    </a:solidFill>
                  </a:tcPr>
                </a:tc>
              </a:tr>
              <a:tr h="624839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F172A"/>
                          </a:solidFill>
                        </a:defRPr>
                      </a:pPr>
                      <a:r>
                        <a:t>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BIGINT / INT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PRIMARY KEY, AUTO_INC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4839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F172A"/>
                          </a:solidFill>
                        </a:defRPr>
                      </a:pPr>
                      <a:r>
                        <a:t>student_id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INT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FOREIGN KEY -&gt; Student (CASCADE)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24839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F172A"/>
                          </a:solidFill>
                        </a:defRPr>
                      </a:pPr>
                      <a:r>
                        <a:t>message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TEXT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NOT NULL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4839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F172A"/>
                          </a:solidFill>
                        </a:defRPr>
                      </a:pPr>
                      <a:r>
                        <a:t>is_read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BOOLEAN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DEFAULT: FALSE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24844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F172A"/>
                          </a:solidFill>
                        </a:defRPr>
                      </a:pPr>
                      <a:r>
                        <a:t>created_at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DATETIME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NOT NULL, auto_now_add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TECHNOLOGIES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Technology Stack Used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</a:defRPr>
            </a:pPr>
            <a:r>
              <a:t>Tools, frameworks, and programming environments powering InternHub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916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474720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rtlCol="0" anchor="ctr"/>
          <a:lstStyle/>
          <a:p>
            <a:pPr algn="ctr">
              <a:defRPr sz="1300" b="1">
                <a:solidFill>
                  <a:srgbClr val="1F3C88"/>
                </a:solidFill>
              </a:defRPr>
            </a:pPr>
            <a:r>
              <a:t>🐍 Backend Language</a:t>
            </a:r>
          </a:p>
          <a:p>
            <a:pPr>
              <a:spcBef>
                <a:spcPts val="300"/>
              </a:spcBef>
              <a:defRPr sz="1200" b="1">
                <a:solidFill>
                  <a:srgbClr val="2563EB"/>
                </a:solidFill>
              </a:defRPr>
            </a:pPr>
            <a:r>
              <a:t>Python 3.9+</a:t>
            </a:r>
          </a:p>
          <a:p>
            <a:pPr>
              <a:spcBef>
                <a:spcPts val="600"/>
              </a:spcBef>
              <a:defRPr sz="1050">
                <a:solidFill>
                  <a:srgbClr val="1E293B"/>
                </a:solidFill>
              </a:defRPr>
            </a:pPr>
            <a:r>
              <a:t>Core server-side language chosen for its clean syntax, readability, extensive ecosystem, and exceptional web framework maturity.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70832" y="1920240"/>
            <a:ext cx="3474720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rtlCol="0" anchor="ctr"/>
          <a:lstStyle/>
          <a:p>
            <a:pPr algn="ctr">
              <a:defRPr sz="1300" b="1">
                <a:solidFill>
                  <a:srgbClr val="1F3C88"/>
                </a:solidFill>
              </a:defRPr>
            </a:pPr>
            <a:r>
              <a:t>🌐 Web Framework</a:t>
            </a:r>
          </a:p>
          <a:p>
            <a:pPr>
              <a:spcBef>
                <a:spcPts val="300"/>
              </a:spcBef>
              <a:defRPr sz="1200" b="1">
                <a:solidFill>
                  <a:srgbClr val="2563EB"/>
                </a:solidFill>
              </a:defRPr>
            </a:pPr>
            <a:r>
              <a:t>Django 4.2 LTS</a:t>
            </a:r>
          </a:p>
          <a:p>
            <a:pPr>
              <a:spcBef>
                <a:spcPts val="600"/>
              </a:spcBef>
              <a:defRPr sz="1050">
                <a:solidFill>
                  <a:srgbClr val="1E293B"/>
                </a:solidFill>
              </a:defRPr>
            </a:pPr>
            <a:r>
              <a:t>High-level 'batteries-included' Python web framework providing built-in ORM, Admin console, CSRF protection, and session management.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10144" y="1920240"/>
            <a:ext cx="3474720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rtlCol="0" anchor="ctr"/>
          <a:lstStyle/>
          <a:p>
            <a:pPr algn="ctr">
              <a:defRPr sz="1300" b="1">
                <a:solidFill>
                  <a:srgbClr val="1F3C88"/>
                </a:solidFill>
              </a:defRPr>
            </a:pPr>
            <a:r>
              <a:t>🗄️ Relational Database</a:t>
            </a:r>
          </a:p>
          <a:p>
            <a:pPr>
              <a:spcBef>
                <a:spcPts val="300"/>
              </a:spcBef>
              <a:defRPr sz="1200" b="1">
                <a:solidFill>
                  <a:srgbClr val="2563EB"/>
                </a:solidFill>
              </a:defRPr>
            </a:pPr>
            <a:r>
              <a:t>MySQL &amp; SQLite</a:t>
            </a:r>
          </a:p>
          <a:p>
            <a:pPr>
              <a:spcBef>
                <a:spcPts val="600"/>
              </a:spcBef>
              <a:defRPr sz="1050">
                <a:solidFill>
                  <a:srgbClr val="1E293B"/>
                </a:solidFill>
              </a:defRPr>
            </a:pPr>
            <a:r>
              <a:t>MySQL 8.x configured for production data persistence; SQLite utilized for rapid unit testing and local development agility.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160520"/>
            <a:ext cx="3474720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rtlCol="0" anchor="ctr"/>
          <a:lstStyle/>
          <a:p>
            <a:pPr algn="ctr">
              <a:defRPr sz="1300" b="1">
                <a:solidFill>
                  <a:srgbClr val="1F3C88"/>
                </a:solidFill>
              </a:defRPr>
            </a:pPr>
            <a:r>
              <a:t>🎨 Frontend UI</a:t>
            </a:r>
          </a:p>
          <a:p>
            <a:pPr>
              <a:spcBef>
                <a:spcPts val="300"/>
              </a:spcBef>
              <a:defRPr sz="1200" b="1">
                <a:solidFill>
                  <a:srgbClr val="2563EB"/>
                </a:solidFill>
              </a:defRPr>
            </a:pPr>
            <a:r>
              <a:t>HTML5 &amp; CSS3</a:t>
            </a:r>
          </a:p>
          <a:p>
            <a:pPr>
              <a:spcBef>
                <a:spcPts val="600"/>
              </a:spcBef>
              <a:defRPr sz="1050">
                <a:solidFill>
                  <a:srgbClr val="1E293B"/>
                </a:solidFill>
              </a:defRPr>
            </a:pPr>
            <a:r>
              <a:t>Custom modern, responsive UI design featuring CSS grid/flexbox cards, dynamic status badges, and responsive layouts for mobile and desktop.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4160520"/>
            <a:ext cx="3474720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rtlCol="0" anchor="ctr"/>
          <a:lstStyle/>
          <a:p>
            <a:pPr algn="ctr">
              <a:defRPr sz="1300" b="1">
                <a:solidFill>
                  <a:srgbClr val="1F3C88"/>
                </a:solidFill>
              </a:defRPr>
            </a:pPr>
            <a:r>
              <a:t>📦 Libraries &amp; Tools</a:t>
            </a:r>
          </a:p>
          <a:p>
            <a:pPr>
              <a:spcBef>
                <a:spcPts val="300"/>
              </a:spcBef>
              <a:defRPr sz="1200" b="1">
                <a:solidFill>
                  <a:srgbClr val="2563EB"/>
                </a:solidFill>
              </a:defRPr>
            </a:pPr>
            <a:r>
              <a:t>PyMySQL / Forms</a:t>
            </a:r>
          </a:p>
          <a:p>
            <a:pPr>
              <a:spcBef>
                <a:spcPts val="600"/>
              </a:spcBef>
              <a:defRPr sz="1050">
                <a:solidFill>
                  <a:srgbClr val="1E293B"/>
                </a:solidFill>
              </a:defRPr>
            </a:pPr>
            <a:r>
              <a:t>PyMySQL / mysqlclient database driver, Django Form validation libraries, Python-pptx for documentation, and Git for version control.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10144" y="4160520"/>
            <a:ext cx="3474720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rtlCol="0" anchor="ctr"/>
          <a:lstStyle/>
          <a:p>
            <a:pPr algn="ctr">
              <a:defRPr sz="1300" b="1">
                <a:solidFill>
                  <a:srgbClr val="1F3C88"/>
                </a:solidFill>
              </a:defRPr>
            </a:pPr>
            <a:r>
              <a:t>💻 Development Environment</a:t>
            </a:r>
          </a:p>
          <a:p>
            <a:pPr>
              <a:spcBef>
                <a:spcPts val="300"/>
              </a:spcBef>
              <a:defRPr sz="1200" b="1">
                <a:solidFill>
                  <a:srgbClr val="2563EB"/>
                </a:solidFill>
              </a:defRPr>
            </a:pPr>
            <a:r>
              <a:t>VS Code &amp; Powershell</a:t>
            </a:r>
          </a:p>
          <a:p>
            <a:pPr>
              <a:spcBef>
                <a:spcPts val="600"/>
              </a:spcBef>
              <a:defRPr sz="1050">
                <a:solidFill>
                  <a:srgbClr val="1E293B"/>
                </a:solidFill>
              </a:defRPr>
            </a:pPr>
            <a:r>
              <a:t>Visual Studio Code with Python linting &amp; debugging, Django manage.py command-line tools, and virtual environments (venv).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Future Enhancements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</a:defRPr>
            </a:pPr>
            <a:r>
              <a:t>Strategic expansion roadmap to scale InternHub into an enterprise ecosystem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916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474720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rtlCol="0" anchor="ctr"/>
          <a:lstStyle/>
          <a:p>
            <a:pPr algn="ctr">
              <a:defRPr sz="1300" b="1">
                <a:solidFill>
                  <a:srgbClr val="1F3C88"/>
                </a:solidFill>
              </a:defRPr>
            </a:pPr>
            <a:r>
              <a:t>🤖 AI Resume Parser &amp; Matcher</a:t>
            </a:r>
          </a:p>
          <a:p>
            <a:pPr>
              <a:spcBef>
                <a:spcPts val="800"/>
              </a:spcBef>
              <a:defRPr sz="1050">
                <a:solidFill>
                  <a:srgbClr val="1E293B"/>
                </a:solidFill>
              </a:defRPr>
            </a:pPr>
            <a:r>
              <a:t>Integrate NLP to parse student resumes (PDF/DOCX), extract key skills, and recommend the best-matching internships automatically using ML similarity scoring.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70832" y="1920240"/>
            <a:ext cx="3474720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rtlCol="0" anchor="ctr"/>
          <a:lstStyle/>
          <a:p>
            <a:pPr algn="ctr">
              <a:defRPr sz="1300" b="1">
                <a:solidFill>
                  <a:srgbClr val="1F3C88"/>
                </a:solidFill>
              </a:defRPr>
            </a:pPr>
            <a:r>
              <a:t>🏢 Dedicated Recruiter / Company Portal</a:t>
            </a:r>
          </a:p>
          <a:p>
            <a:pPr>
              <a:spcBef>
                <a:spcPts val="800"/>
              </a:spcBef>
              <a:defRPr sz="1050">
                <a:solidFill>
                  <a:srgbClr val="1E293B"/>
                </a:solidFill>
              </a:defRPr>
            </a:pPr>
            <a:r>
              <a:t>Expand the platform beyond college admins to allow verified company HRs to create postings, review applicant pools, and shortlist candidates directly.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10144" y="1920240"/>
            <a:ext cx="3474720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rtlCol="0" anchor="ctr"/>
          <a:lstStyle/>
          <a:p>
            <a:pPr algn="ctr">
              <a:defRPr sz="1300" b="1">
                <a:solidFill>
                  <a:srgbClr val="1F3C88"/>
                </a:solidFill>
              </a:defRPr>
            </a:pPr>
            <a:r>
              <a:t>📅 Integrated Interview Scheduling</a:t>
            </a:r>
          </a:p>
          <a:p>
            <a:pPr>
              <a:spcBef>
                <a:spcPts val="800"/>
              </a:spcBef>
              <a:defRPr sz="1050">
                <a:solidFill>
                  <a:srgbClr val="1E293B"/>
                </a:solidFill>
              </a:defRPr>
            </a:pPr>
            <a:r>
              <a:t>Add an interactive scheduling calendar with Google Calendar / Zoom / WebRTC integration for scheduling and conducting virtual interviews.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160520"/>
            <a:ext cx="3474720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rtlCol="0" anchor="ctr"/>
          <a:lstStyle/>
          <a:p>
            <a:pPr algn="ctr">
              <a:defRPr sz="1300" b="1">
                <a:solidFill>
                  <a:srgbClr val="1F3C88"/>
                </a:solidFill>
              </a:defRPr>
            </a:pPr>
            <a:r>
              <a:t>📱 Native Mobile Application</a:t>
            </a:r>
          </a:p>
          <a:p>
            <a:pPr>
              <a:spcBef>
                <a:spcPts val="800"/>
              </a:spcBef>
              <a:defRPr sz="1050">
                <a:solidFill>
                  <a:srgbClr val="1E293B"/>
                </a:solidFill>
              </a:defRPr>
            </a:pPr>
            <a:r>
              <a:t>Develop cross-platform mobile apps using Flutter or React Native to provide push notifications, mobile application tracking, and instant alerts.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4160520"/>
            <a:ext cx="3474720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rtlCol="0" anchor="ctr"/>
          <a:lstStyle/>
          <a:p>
            <a:pPr algn="ctr">
              <a:defRPr sz="1300" b="1">
                <a:solidFill>
                  <a:srgbClr val="1F3C88"/>
                </a:solidFill>
              </a:defRPr>
            </a:pPr>
            <a:r>
              <a:t>📩 Automated Email &amp; SMS Alerts</a:t>
            </a:r>
          </a:p>
          <a:p>
            <a:pPr>
              <a:spcBef>
                <a:spcPts val="800"/>
              </a:spcBef>
              <a:defRPr sz="1050">
                <a:solidFill>
                  <a:srgbClr val="1E293B"/>
                </a:solidFill>
              </a:defRPr>
            </a:pPr>
            <a:r>
              <a:t>Integrate Celery background workers with SendGrid / Twilio to send instant SMS and email alerts whenever application statuses change.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10144" y="4160520"/>
            <a:ext cx="3474720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rtlCol="0" anchor="ctr"/>
          <a:lstStyle/>
          <a:p>
            <a:pPr algn="ctr">
              <a:defRPr sz="1300" b="1">
                <a:solidFill>
                  <a:srgbClr val="1F3C88"/>
                </a:solidFill>
              </a:defRPr>
            </a:pPr>
            <a:r>
              <a:t>🎓 Digital Certificate Issuance</a:t>
            </a:r>
          </a:p>
          <a:p>
            <a:pPr>
              <a:spcBef>
                <a:spcPts val="800"/>
              </a:spcBef>
              <a:defRPr sz="1050">
                <a:solidFill>
                  <a:srgbClr val="1E293B"/>
                </a:solidFill>
              </a:defRPr>
            </a:pPr>
            <a:r>
              <a:t>Implement automated, cryptographically verifiable digital certificate generation upon successful completion of an internship.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1645920"/>
            <a:ext cx="85340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600" b="1">
                <a:solidFill>
                  <a:srgbClr val="FFFFFF"/>
                </a:solidFill>
              </a:defRPr>
            </a:pPr>
            <a:r>
              <a:t>Thank You!</a:t>
            </a:r>
          </a:p>
          <a:p>
            <a:pPr algn="ctr">
              <a:spcBef>
                <a:spcPts val="800"/>
              </a:spcBef>
              <a:defRPr sz="2200" b="1">
                <a:solidFill>
                  <a:srgbClr val="93C5FD"/>
                </a:solidFill>
              </a:defRPr>
            </a:pPr>
            <a:r>
              <a:t>Questions &amp; Answers / Discussion</a:t>
            </a:r>
          </a:p>
          <a:p>
            <a:pPr algn="ctr">
              <a:spcBef>
                <a:spcPts val="1000"/>
              </a:spcBef>
              <a:defRPr sz="1400">
                <a:solidFill>
                  <a:srgbClr val="CBD5E1"/>
                </a:solidFill>
              </a:defRPr>
            </a:pPr>
            <a:r>
              <a:t>InternHub — College Internship Management System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286000" y="4114800"/>
            <a:ext cx="7619695" cy="182880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28600"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HISANA HAMZA  |  Register No: MEA25MCA-2010</a:t>
            </a:r>
          </a:p>
          <a:p>
            <a:pPr algn="ctr">
              <a:spcBef>
                <a:spcPts val="400"/>
              </a:spcBef>
              <a:defRPr sz="1200">
                <a:solidFill>
                  <a:srgbClr val="CBD5E1"/>
                </a:solidFill>
              </a:defRPr>
            </a:pPr>
            <a:r>
              <a:t>Project Guide: Mr. Adil Narakkoden, Assistant Professor</a:t>
            </a:r>
          </a:p>
          <a:p>
            <a:pPr algn="ctr">
              <a:spcBef>
                <a:spcPts val="400"/>
              </a:spcBef>
              <a:defRPr sz="1200">
                <a:solidFill>
                  <a:srgbClr val="93C5FD"/>
                </a:solidFill>
              </a:defRPr>
            </a:pPr>
            <a:r>
              <a:t>Department of Computer Applications — MEA Engineering College, Perinthalmanna</a:t>
            </a:r>
          </a:p>
          <a:p>
            <a:pPr algn="ctr">
              <a:defRPr sz="1100">
                <a:solidFill>
                  <a:srgbClr val="94A3B8"/>
                </a:solidFill>
              </a:defRPr>
            </a:pPr>
            <a:r>
              <a:t>APJ Abdul Kalam Technological University (KTU)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10720</Words>
  <Application>WPS Presentation</Application>
  <PresentationFormat>On-screen Show (4:3)</PresentationFormat>
  <Paragraphs>382</Paragraphs>
  <Slides>11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20" baseType="lpstr">
      <vt:lpstr>Arial</vt:lpstr>
      <vt:lpstr>SimSun</vt:lpstr>
      <vt:lpstr>Wingdings</vt:lpstr>
      <vt:lpstr>Arial</vt:lpstr>
      <vt:lpstr>Calibri</vt:lpstr>
      <vt:lpstr>Microsoft YaHei</vt:lpstr>
      <vt:lpstr>Arial Unicode MS</vt:lpstr>
      <vt:lpstr>Consolas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Hisana Hamza</cp:lastModifiedBy>
  <cp:revision>3</cp:revision>
  <dcterms:created xsi:type="dcterms:W3CDTF">2013-01-27T09:14:00Z</dcterms:created>
  <dcterms:modified xsi:type="dcterms:W3CDTF">2026-09-08T10:02:05Z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1033-12.1.0.28485</vt:lpwstr>
  </property>
  <property fmtid="{D5CDD505-2E9C-101B-9397-08002B2CF9AE}" pid="3" name="ICV">
    <vt:lpwstr>CAE980E3A9064B51BCA0B2C0F647CE6B_12</vt:lpwstr>
  </property>
</Properties>
</file>